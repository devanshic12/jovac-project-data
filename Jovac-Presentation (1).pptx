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6858000" cy="9144000"/>
  <p:embeddedFontLst>
    <p:embeddedFont>
      <p:font typeface="Barlow" panose="00000500000000000000" pitchFamily="2" charset="0"/>
      <p:regular r:id="rId24"/>
    </p:embeddedFont>
    <p:embeddedFont>
      <p:font typeface="Barlow Bold" panose="020B0604020202020204" charset="0"/>
      <p:regular r:id="rId25"/>
    </p:embeddedFont>
    <p:embeddedFont>
      <p:font typeface="Canva Sans" panose="020B0604020202020204" charset="0"/>
      <p:regular r:id="rId26"/>
    </p:embeddedFont>
    <p:embeddedFont>
      <p:font typeface="Canva Sans Bold" panose="020B0604020202020204" charset="0"/>
      <p:regular r:id="rId27"/>
    </p:embeddedFont>
    <p:embeddedFont>
      <p:font typeface="Flatory Sans" panose="020B0604020202020204" charset="-34"/>
      <p:regular r:id="rId28"/>
    </p:embeddedFont>
    <p:embeddedFont>
      <p:font typeface="Flatory Sans Bold" panose="020B0604020202020204" charset="-3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610" y="21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5.png"/><Relationship Id="rId4" Type="http://schemas.openxmlformats.org/officeDocument/2006/relationships/oleObject" Target="../embeddings/oleObject3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22821" y="-356450"/>
            <a:ext cx="9279915" cy="10999900"/>
          </a:xfrm>
          <a:custGeom>
            <a:avLst/>
            <a:gdLst/>
            <a:ahLst/>
            <a:cxnLst/>
            <a:rect l="l" t="t" r="r" b="b"/>
            <a:pathLst>
              <a:path w="9279915" h="10999900">
                <a:moveTo>
                  <a:pt x="0" y="0"/>
                </a:moveTo>
                <a:lnTo>
                  <a:pt x="9279915" y="0"/>
                </a:lnTo>
                <a:lnTo>
                  <a:pt x="9279915" y="10999900"/>
                </a:lnTo>
                <a:lnTo>
                  <a:pt x="0" y="1099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950873" y="-465862"/>
            <a:ext cx="2979573" cy="11218724"/>
            <a:chOff x="0" y="0"/>
            <a:chExt cx="784744" cy="29547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84744" cy="2954726"/>
            </a:xfrm>
            <a:custGeom>
              <a:avLst/>
              <a:gdLst/>
              <a:ahLst/>
              <a:cxnLst/>
              <a:rect l="l" t="t" r="r" b="b"/>
              <a:pathLst>
                <a:path w="784744" h="2954726">
                  <a:moveTo>
                    <a:pt x="0" y="0"/>
                  </a:moveTo>
                  <a:lnTo>
                    <a:pt x="784744" y="0"/>
                  </a:lnTo>
                  <a:lnTo>
                    <a:pt x="784744" y="2954726"/>
                  </a:lnTo>
                  <a:lnTo>
                    <a:pt x="0" y="2954726"/>
                  </a:lnTo>
                  <a:close/>
                </a:path>
              </a:pathLst>
            </a:custGeom>
            <a:solidFill>
              <a:srgbClr val="D9662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84744" cy="2992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61865" y="2659042"/>
            <a:ext cx="13471538" cy="2038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03"/>
              </a:lnSpc>
            </a:pPr>
            <a:r>
              <a:rPr lang="en-US" sz="5356" b="1">
                <a:solidFill>
                  <a:srgbClr val="000000"/>
                </a:solidFill>
                <a:latin typeface="Flatory Sans Bold"/>
                <a:ea typeface="Flatory Sans Bold"/>
                <a:cs typeface="Flatory Sans Bold"/>
                <a:sym typeface="Flatory Sans Bold"/>
              </a:rPr>
              <a:t>Create an AMI of an Existing EC2 Instance</a:t>
            </a:r>
          </a:p>
          <a:p>
            <a:pPr algn="l">
              <a:lnSpc>
                <a:spcPts val="5303"/>
              </a:lnSpc>
            </a:pPr>
            <a:r>
              <a:rPr lang="en-US" sz="5356" b="1">
                <a:solidFill>
                  <a:srgbClr val="000000"/>
                </a:solidFill>
                <a:latin typeface="Flatory Sans Bold"/>
                <a:ea typeface="Flatory Sans Bold"/>
                <a:cs typeface="Flatory Sans Bold"/>
                <a:sym typeface="Flatory Sans Bold"/>
              </a:rPr>
              <a:t> and Launch a New Instance from It</a:t>
            </a:r>
          </a:p>
          <a:p>
            <a:pPr algn="l">
              <a:lnSpc>
                <a:spcPts val="5303"/>
              </a:lnSpc>
            </a:pPr>
            <a:endParaRPr lang="en-US" sz="5356" b="1">
              <a:solidFill>
                <a:srgbClr val="000000"/>
              </a:solidFill>
              <a:latin typeface="Flatory Sans Bold"/>
              <a:ea typeface="Flatory Sans Bold"/>
              <a:cs typeface="Flatory Sans Bold"/>
              <a:sym typeface="Flatory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885863" y="6991698"/>
            <a:ext cx="8238843" cy="3295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6"/>
              </a:lnSpc>
            </a:pPr>
            <a:r>
              <a:rPr lang="en-US" sz="3736" b="1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Team Members:</a:t>
            </a:r>
          </a:p>
          <a:p>
            <a:pPr algn="l">
              <a:lnSpc>
                <a:spcPts val="3736"/>
              </a:lnSpc>
            </a:pPr>
            <a:endParaRPr lang="en-US" sz="3736" b="1">
              <a:solidFill>
                <a:srgbClr val="000000"/>
              </a:solidFill>
              <a:latin typeface="Barlow Bold"/>
              <a:ea typeface="Barlow Bold"/>
              <a:cs typeface="Barlow Bold"/>
              <a:sym typeface="Barlow Bold"/>
            </a:endParaRPr>
          </a:p>
          <a:p>
            <a:pPr algn="l">
              <a:lnSpc>
                <a:spcPts val="3736"/>
              </a:lnSpc>
            </a:pPr>
            <a:r>
              <a:rPr lang="en-US" sz="3736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Devanshi Chauhan</a:t>
            </a:r>
          </a:p>
          <a:p>
            <a:pPr algn="l">
              <a:lnSpc>
                <a:spcPts val="3736"/>
              </a:lnSpc>
            </a:pPr>
            <a:r>
              <a:rPr lang="en-US" sz="3736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Abhay Kumar</a:t>
            </a:r>
          </a:p>
          <a:p>
            <a:pPr algn="l">
              <a:lnSpc>
                <a:spcPts val="3736"/>
              </a:lnSpc>
            </a:pPr>
            <a:r>
              <a:rPr lang="en-US" sz="3736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Saumya Raghav</a:t>
            </a:r>
          </a:p>
          <a:p>
            <a:pPr algn="l">
              <a:lnSpc>
                <a:spcPts val="3736"/>
              </a:lnSpc>
            </a:pPr>
            <a:r>
              <a:rPr lang="en-US" sz="3736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Sarthak Chaudhary</a:t>
            </a:r>
          </a:p>
          <a:p>
            <a:pPr algn="l">
              <a:lnSpc>
                <a:spcPts val="3736"/>
              </a:lnSpc>
            </a:pPr>
            <a:endParaRPr lang="en-US" sz="3736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91012" y="5210175"/>
            <a:ext cx="6306621" cy="494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6"/>
              </a:lnSpc>
              <a:spcBef>
                <a:spcPct val="0"/>
              </a:spcBef>
            </a:pPr>
            <a:r>
              <a:rPr lang="en-US" sz="3736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AWS | EC2 | AMI | EBS | IAM | VPC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32326" y="3736215"/>
            <a:ext cx="6547437" cy="4389575"/>
            <a:chOff x="0" y="0"/>
            <a:chExt cx="1724428" cy="11561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24428" cy="1156102"/>
            </a:xfrm>
            <a:custGeom>
              <a:avLst/>
              <a:gdLst/>
              <a:ahLst/>
              <a:cxnLst/>
              <a:rect l="l" t="t" r="r" b="b"/>
              <a:pathLst>
                <a:path w="1724428" h="1156102">
                  <a:moveTo>
                    <a:pt x="53210" y="0"/>
                  </a:moveTo>
                  <a:lnTo>
                    <a:pt x="1671218" y="0"/>
                  </a:lnTo>
                  <a:cubicBezTo>
                    <a:pt x="1700605" y="0"/>
                    <a:pt x="1724428" y="23823"/>
                    <a:pt x="1724428" y="53210"/>
                  </a:cubicBezTo>
                  <a:lnTo>
                    <a:pt x="1724428" y="1102892"/>
                  </a:lnTo>
                  <a:cubicBezTo>
                    <a:pt x="1724428" y="1117004"/>
                    <a:pt x="1718822" y="1130539"/>
                    <a:pt x="1708843" y="1140517"/>
                  </a:cubicBezTo>
                  <a:cubicBezTo>
                    <a:pt x="1698865" y="1150496"/>
                    <a:pt x="1685330" y="1156102"/>
                    <a:pt x="1671218" y="1156102"/>
                  </a:cubicBezTo>
                  <a:lnTo>
                    <a:pt x="53210" y="1156102"/>
                  </a:lnTo>
                  <a:cubicBezTo>
                    <a:pt x="23823" y="1156102"/>
                    <a:pt x="0" y="1132279"/>
                    <a:pt x="0" y="1102892"/>
                  </a:cubicBezTo>
                  <a:lnTo>
                    <a:pt x="0" y="53210"/>
                  </a:lnTo>
                  <a:cubicBezTo>
                    <a:pt x="0" y="39098"/>
                    <a:pt x="5606" y="25563"/>
                    <a:pt x="15585" y="15585"/>
                  </a:cubicBezTo>
                  <a:cubicBezTo>
                    <a:pt x="25563" y="5606"/>
                    <a:pt x="39098" y="0"/>
                    <a:pt x="53210" y="0"/>
                  </a:cubicBezTo>
                  <a:close/>
                </a:path>
              </a:pathLst>
            </a:custGeom>
            <a:solidFill>
              <a:srgbClr val="D96627">
                <a:alpha val="1882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24428" cy="119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2161210"/>
            <a:ext cx="6547437" cy="1009689"/>
            <a:chOff x="0" y="0"/>
            <a:chExt cx="1724428" cy="2659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4428" cy="265926"/>
            </a:xfrm>
            <a:custGeom>
              <a:avLst/>
              <a:gdLst/>
              <a:ahLst/>
              <a:cxnLst/>
              <a:rect l="l" t="t" r="r" b="b"/>
              <a:pathLst>
                <a:path w="1724428" h="265926">
                  <a:moveTo>
                    <a:pt x="15372" y="0"/>
                  </a:moveTo>
                  <a:lnTo>
                    <a:pt x="1709056" y="0"/>
                  </a:lnTo>
                  <a:cubicBezTo>
                    <a:pt x="1717546" y="0"/>
                    <a:pt x="1724428" y="6882"/>
                    <a:pt x="1724428" y="15372"/>
                  </a:cubicBezTo>
                  <a:lnTo>
                    <a:pt x="1724428" y="250555"/>
                  </a:lnTo>
                  <a:cubicBezTo>
                    <a:pt x="1724428" y="254631"/>
                    <a:pt x="1722808" y="258541"/>
                    <a:pt x="1719926" y="261424"/>
                  </a:cubicBezTo>
                  <a:cubicBezTo>
                    <a:pt x="1717043" y="264307"/>
                    <a:pt x="1713133" y="265926"/>
                    <a:pt x="1709056" y="265926"/>
                  </a:cubicBezTo>
                  <a:lnTo>
                    <a:pt x="15372" y="265926"/>
                  </a:lnTo>
                  <a:cubicBezTo>
                    <a:pt x="6882" y="265926"/>
                    <a:pt x="0" y="259044"/>
                    <a:pt x="0" y="250555"/>
                  </a:cubicBezTo>
                  <a:lnTo>
                    <a:pt x="0" y="15372"/>
                  </a:lnTo>
                  <a:cubicBezTo>
                    <a:pt x="0" y="6882"/>
                    <a:pt x="6882" y="0"/>
                    <a:pt x="15372" y="0"/>
                  </a:cubicBezTo>
                  <a:close/>
                </a:path>
              </a:pathLst>
            </a:custGeom>
            <a:solidFill>
              <a:srgbClr val="D9662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24428" cy="3040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310584" y="3170898"/>
            <a:ext cx="4310743" cy="4114800"/>
          </a:xfrm>
          <a:custGeom>
            <a:avLst/>
            <a:gdLst/>
            <a:ahLst/>
            <a:cxnLst/>
            <a:rect l="l" t="t" r="r" b="b"/>
            <a:pathLst>
              <a:path w="4310743" h="4114800">
                <a:moveTo>
                  <a:pt x="0" y="0"/>
                </a:moveTo>
                <a:lnTo>
                  <a:pt x="4310743" y="0"/>
                </a:lnTo>
                <a:lnTo>
                  <a:pt x="43107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1266825"/>
            <a:ext cx="13471526" cy="64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5859" b="1">
                <a:solidFill>
                  <a:srgbClr val="000000"/>
                </a:solidFill>
                <a:latin typeface="Flatory Sans Bold"/>
                <a:ea typeface="Flatory Sans Bold"/>
                <a:cs typeface="Flatory Sans Bold"/>
                <a:sym typeface="Flatory Sans Bold"/>
              </a:rPr>
              <a:t>PROBLEM STATEMENT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32326" y="4260090"/>
            <a:ext cx="6547437" cy="320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Time-consuming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Repetitive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Prone to Error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Difficult to maintain consistently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Difficult to scale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385501" y="2467617"/>
            <a:ext cx="5612198" cy="577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5000">
                <a:solidFill>
                  <a:srgbClr val="FFFFFF"/>
                </a:solidFill>
                <a:latin typeface="Flatory Sans"/>
                <a:ea typeface="Flatory Sans"/>
                <a:cs typeface="Flatory Sans"/>
                <a:sym typeface="Flatory Sans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26543" y="3056158"/>
            <a:ext cx="13936717" cy="5945292"/>
            <a:chOff x="0" y="0"/>
            <a:chExt cx="3670576" cy="15658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70576" cy="1565838"/>
            </a:xfrm>
            <a:custGeom>
              <a:avLst/>
              <a:gdLst/>
              <a:ahLst/>
              <a:cxnLst/>
              <a:rect l="l" t="t" r="r" b="b"/>
              <a:pathLst>
                <a:path w="3670576" h="1565838">
                  <a:moveTo>
                    <a:pt x="24998" y="0"/>
                  </a:moveTo>
                  <a:lnTo>
                    <a:pt x="3645578" y="0"/>
                  </a:lnTo>
                  <a:cubicBezTo>
                    <a:pt x="3659384" y="0"/>
                    <a:pt x="3670576" y="11192"/>
                    <a:pt x="3670576" y="24998"/>
                  </a:cubicBezTo>
                  <a:lnTo>
                    <a:pt x="3670576" y="1540841"/>
                  </a:lnTo>
                  <a:cubicBezTo>
                    <a:pt x="3670576" y="1554646"/>
                    <a:pt x="3659384" y="1565838"/>
                    <a:pt x="3645578" y="1565838"/>
                  </a:cubicBezTo>
                  <a:lnTo>
                    <a:pt x="24998" y="1565838"/>
                  </a:lnTo>
                  <a:cubicBezTo>
                    <a:pt x="11192" y="1565838"/>
                    <a:pt x="0" y="1554646"/>
                    <a:pt x="0" y="1540841"/>
                  </a:cubicBezTo>
                  <a:lnTo>
                    <a:pt x="0" y="24998"/>
                  </a:lnTo>
                  <a:cubicBezTo>
                    <a:pt x="0" y="11192"/>
                    <a:pt x="11192" y="0"/>
                    <a:pt x="24998" y="0"/>
                  </a:cubicBezTo>
                  <a:close/>
                </a:path>
              </a:pathLst>
            </a:custGeom>
            <a:solidFill>
              <a:srgbClr val="D96627">
                <a:alpha val="1882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670576" cy="16039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124739" y="3056158"/>
            <a:ext cx="371326" cy="5945292"/>
            <a:chOff x="0" y="0"/>
            <a:chExt cx="97798" cy="15658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7798" cy="1565838"/>
            </a:xfrm>
            <a:custGeom>
              <a:avLst/>
              <a:gdLst/>
              <a:ahLst/>
              <a:cxnLst/>
              <a:rect l="l" t="t" r="r" b="b"/>
              <a:pathLst>
                <a:path w="97798" h="1565838">
                  <a:moveTo>
                    <a:pt x="0" y="0"/>
                  </a:moveTo>
                  <a:lnTo>
                    <a:pt x="97798" y="0"/>
                  </a:lnTo>
                  <a:lnTo>
                    <a:pt x="97798" y="1565838"/>
                  </a:lnTo>
                  <a:lnTo>
                    <a:pt x="0" y="1565838"/>
                  </a:lnTo>
                  <a:close/>
                </a:path>
              </a:pathLst>
            </a:custGeom>
            <a:solidFill>
              <a:srgbClr val="D9662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7798" cy="1613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124739" y="1637975"/>
            <a:ext cx="11555701" cy="1037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44"/>
              </a:lnSpc>
            </a:pPr>
            <a:r>
              <a:rPr lang="en-US" sz="9180" b="1">
                <a:solidFill>
                  <a:srgbClr val="000000"/>
                </a:solidFill>
                <a:latin typeface="Flatory Sans Bold"/>
                <a:ea typeface="Flatory Sans Bold"/>
                <a:cs typeface="Flatory Sans Bold"/>
                <a:sym typeface="Flatory Sans Bold"/>
              </a:rPr>
              <a:t>PROJECT OVERVIEW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75640" y="3238500"/>
            <a:ext cx="12336720" cy="373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Configure an existing Amazon EC2 instance as a source server.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Install and configure a simple Nginx web server.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Create a custom Amazon Machine Image (AMI).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Launch a new EC2 instance using the custom AMI.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Validate application and configuration consistency.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975640" y="6076208"/>
            <a:ext cx="12336720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endParaRPr/>
          </a:p>
          <a:p>
            <a:pPr algn="just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Project Workflow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EC2-A → Configure → Create AMI → Launch EC2-B → Validate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/>
        </p:nvGraphicFramePr>
        <p:xfrm>
          <a:off x="2856444" y="1723846"/>
          <a:ext cx="9913558" cy="822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1887200" imgH="10210800" progId="Excel.Sheet.12">
                  <p:embed/>
                </p:oleObj>
              </mc:Choice>
              <mc:Fallback>
                <p:oleObj name="Worksheet" r:id="rId2" imgW="11887200" imgH="10210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56444" y="1723846"/>
                        <a:ext cx="9913558" cy="822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3375328" y="685979"/>
            <a:ext cx="11537343" cy="1037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44"/>
              </a:lnSpc>
            </a:pPr>
            <a:r>
              <a:rPr lang="en-US" sz="9180" b="1">
                <a:solidFill>
                  <a:srgbClr val="000000"/>
                </a:solidFill>
                <a:latin typeface="Flatory Sans Bold"/>
                <a:ea typeface="Flatory Sans Bold"/>
                <a:cs typeface="Flatory Sans Bold"/>
                <a:sym typeface="Flatory Sans Bold"/>
              </a:rPr>
              <a:t>AWS SERVICES USED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88046" y="1489068"/>
            <a:ext cx="8495700" cy="8229600"/>
          </a:xfrm>
          <a:custGeom>
            <a:avLst/>
            <a:gdLst/>
            <a:ahLst/>
            <a:cxnLst/>
            <a:rect l="l" t="t" r="r" b="b"/>
            <a:pathLst>
              <a:path w="8495700" h="8229600">
                <a:moveTo>
                  <a:pt x="0" y="0"/>
                </a:moveTo>
                <a:lnTo>
                  <a:pt x="8495700" y="0"/>
                </a:lnTo>
                <a:lnTo>
                  <a:pt x="84957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16" b="-161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772720" y="212124"/>
            <a:ext cx="9526352" cy="962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28"/>
              </a:lnSpc>
              <a:spcBef>
                <a:spcPct val="0"/>
              </a:spcBef>
            </a:pPr>
            <a:r>
              <a:rPr lang="en-US" sz="5591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PROJECT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7776" y="914400"/>
            <a:ext cx="10204968" cy="97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00"/>
              </a:lnSpc>
              <a:spcBef>
                <a:spcPct val="0"/>
              </a:spcBef>
            </a:pPr>
            <a:r>
              <a:rPr lang="en-US" sz="5642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SOURCE EC2 INSTANCE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262824"/>
            <a:ext cx="13277731" cy="5295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7895" lvl="1" indent="-363947" algn="l">
              <a:lnSpc>
                <a:spcPts val="4720"/>
              </a:lnSpc>
              <a:buFont typeface="Arial"/>
              <a:buChar char="•"/>
            </a:pPr>
            <a:r>
              <a:rPr lang="en-US" sz="33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Open EC2, navigate to Instances, and select Launch Instance.</a:t>
            </a:r>
          </a:p>
          <a:p>
            <a:pPr marL="727895" lvl="1" indent="-363947" algn="l">
              <a:lnSpc>
                <a:spcPts val="4720"/>
              </a:lnSpc>
              <a:buFont typeface="Arial"/>
              <a:buChar char="•"/>
            </a:pPr>
            <a:r>
              <a:rPr lang="en-US" sz="33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Choose either Amazon Linux or Ubuntu.</a:t>
            </a:r>
          </a:p>
          <a:p>
            <a:pPr marL="727895" lvl="1" indent="-363947" algn="l">
              <a:lnSpc>
                <a:spcPts val="4720"/>
              </a:lnSpc>
              <a:buFont typeface="Arial"/>
              <a:buChar char="•"/>
            </a:pPr>
            <a:r>
              <a:rPr lang="en-US" sz="33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Select an appropriate instance type.</a:t>
            </a:r>
          </a:p>
          <a:p>
            <a:pPr marL="727895" lvl="1" indent="-363947" algn="l">
              <a:lnSpc>
                <a:spcPts val="4720"/>
              </a:lnSpc>
              <a:buFont typeface="Arial"/>
              <a:buChar char="•"/>
            </a:pPr>
            <a:r>
              <a:rPr lang="en-US" sz="33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Set up a Key Pair.</a:t>
            </a:r>
          </a:p>
          <a:p>
            <a:pPr marL="727895" lvl="1" indent="-363947" algn="l">
              <a:lnSpc>
                <a:spcPts val="4720"/>
              </a:lnSpc>
              <a:buFont typeface="Arial"/>
              <a:buChar char="•"/>
            </a:pPr>
            <a:r>
              <a:rPr lang="en-US" sz="33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Configure the Security Group with the following rules:</a:t>
            </a:r>
          </a:p>
          <a:p>
            <a:pPr marL="1455790" lvl="2" indent="-485263" algn="l">
              <a:lnSpc>
                <a:spcPts val="4720"/>
              </a:lnSpc>
              <a:buFont typeface="Arial"/>
              <a:buChar char="⚬"/>
            </a:pPr>
            <a:r>
              <a:rPr lang="en-US" sz="33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Allow SSH on Port 22</a:t>
            </a:r>
          </a:p>
          <a:p>
            <a:pPr marL="1455790" lvl="2" indent="-485263" algn="l">
              <a:lnSpc>
                <a:spcPts val="4720"/>
              </a:lnSpc>
              <a:buFont typeface="Arial"/>
              <a:buChar char="⚬"/>
            </a:pPr>
            <a:r>
              <a:rPr lang="en-US" sz="33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Allow HTTP on Port 80</a:t>
            </a:r>
          </a:p>
          <a:p>
            <a:pPr marL="727895" lvl="1" indent="-363947" algn="l">
              <a:lnSpc>
                <a:spcPts val="4720"/>
              </a:lnSpc>
              <a:buFont typeface="Arial"/>
              <a:buChar char="•"/>
            </a:pPr>
            <a:r>
              <a:rPr lang="en-US" sz="33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Launch the instance (EC2-A).</a:t>
            </a:r>
          </a:p>
          <a:p>
            <a:pPr marL="727895" lvl="1" indent="-363947" algn="l">
              <a:lnSpc>
                <a:spcPts val="4720"/>
              </a:lnSpc>
              <a:buFont typeface="Arial"/>
              <a:buChar char="•"/>
            </a:pPr>
            <a:r>
              <a:rPr lang="en-US" sz="33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Connect to the instance via SSH.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267454"/>
            <a:ext cx="4972764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Implementation Steps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01885" y="2027818"/>
            <a:ext cx="13084230" cy="6231365"/>
          </a:xfrm>
          <a:custGeom>
            <a:avLst/>
            <a:gdLst/>
            <a:ahLst/>
            <a:cxnLst/>
            <a:rect l="l" t="t" r="r" b="b"/>
            <a:pathLst>
              <a:path w="13084230" h="6231365">
                <a:moveTo>
                  <a:pt x="0" y="0"/>
                </a:moveTo>
                <a:lnTo>
                  <a:pt x="13084230" y="0"/>
                </a:lnTo>
                <a:lnTo>
                  <a:pt x="13084230" y="6231364"/>
                </a:lnTo>
                <a:lnTo>
                  <a:pt x="0" y="6231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01885" y="1672090"/>
            <a:ext cx="13084230" cy="6942820"/>
          </a:xfrm>
          <a:custGeom>
            <a:avLst/>
            <a:gdLst/>
            <a:ahLst/>
            <a:cxnLst/>
            <a:rect l="l" t="t" r="r" b="b"/>
            <a:pathLst>
              <a:path w="13084230" h="6942820">
                <a:moveTo>
                  <a:pt x="0" y="0"/>
                </a:moveTo>
                <a:lnTo>
                  <a:pt x="13084230" y="0"/>
                </a:lnTo>
                <a:lnTo>
                  <a:pt x="13084230" y="6942820"/>
                </a:lnTo>
                <a:lnTo>
                  <a:pt x="0" y="6942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9053" y="2019748"/>
            <a:ext cx="10508102" cy="7016418"/>
          </a:xfrm>
          <a:custGeom>
            <a:avLst/>
            <a:gdLst/>
            <a:ahLst/>
            <a:cxnLst/>
            <a:rect l="l" t="t" r="r" b="b"/>
            <a:pathLst>
              <a:path w="10508102" h="7016418">
                <a:moveTo>
                  <a:pt x="0" y="0"/>
                </a:moveTo>
                <a:lnTo>
                  <a:pt x="10508102" y="0"/>
                </a:lnTo>
                <a:lnTo>
                  <a:pt x="10508102" y="7016419"/>
                </a:lnTo>
                <a:lnTo>
                  <a:pt x="0" y="70164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451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737155" y="3244326"/>
            <a:ext cx="7998365" cy="3180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25"/>
              </a:lnSpc>
              <a:spcBef>
                <a:spcPct val="0"/>
              </a:spcBef>
            </a:pPr>
            <a:r>
              <a:rPr lang="en-US" sz="301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1- </a:t>
            </a:r>
            <a:r>
              <a:rPr lang="en-US" sz="30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Installed Nginx on the EC2 instance.</a:t>
            </a:r>
          </a:p>
          <a:p>
            <a:pPr algn="ctr">
              <a:lnSpc>
                <a:spcPts val="4225"/>
              </a:lnSpc>
              <a:spcBef>
                <a:spcPct val="0"/>
              </a:spcBef>
            </a:pPr>
            <a:r>
              <a:rPr lang="en-US" sz="301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2-</a:t>
            </a:r>
            <a:r>
              <a:rPr lang="en-US" sz="30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Enabled and started Nginx service.</a:t>
            </a:r>
          </a:p>
          <a:p>
            <a:pPr algn="ctr">
              <a:lnSpc>
                <a:spcPts val="4225"/>
              </a:lnSpc>
              <a:spcBef>
                <a:spcPct val="0"/>
              </a:spcBef>
            </a:pPr>
            <a:r>
              <a:rPr lang="en-US" sz="301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3-</a:t>
            </a:r>
            <a:r>
              <a:rPr lang="en-US" sz="30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Configured a custom HTML page.</a:t>
            </a:r>
          </a:p>
          <a:p>
            <a:pPr algn="ctr">
              <a:lnSpc>
                <a:spcPts val="4225"/>
              </a:lnSpc>
              <a:spcBef>
                <a:spcPct val="0"/>
              </a:spcBef>
            </a:pPr>
            <a:r>
              <a:rPr lang="en-US" sz="301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4-</a:t>
            </a:r>
            <a:r>
              <a:rPr lang="en-US" sz="30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Verified Nginx using EC2 Public IP.</a:t>
            </a:r>
          </a:p>
          <a:p>
            <a:pPr algn="ctr">
              <a:lnSpc>
                <a:spcPts val="4225"/>
              </a:lnSpc>
              <a:spcBef>
                <a:spcPct val="0"/>
              </a:spcBef>
            </a:pPr>
            <a:r>
              <a:rPr lang="en-US" sz="301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5-</a:t>
            </a:r>
            <a:r>
              <a:rPr lang="en-US" sz="30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Successfully displayed the custom</a:t>
            </a:r>
          </a:p>
          <a:p>
            <a:pPr algn="ctr">
              <a:lnSpc>
                <a:spcPts val="4225"/>
              </a:lnSpc>
              <a:spcBef>
                <a:spcPct val="0"/>
              </a:spcBef>
            </a:pPr>
            <a:r>
              <a:rPr lang="en-US" sz="30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webpage Validation: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340408" y="933450"/>
            <a:ext cx="7896820" cy="887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NGINX CONFIGURATION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32823" y="936662"/>
            <a:ext cx="15207792" cy="8079140"/>
          </a:xfrm>
          <a:custGeom>
            <a:avLst/>
            <a:gdLst/>
            <a:ahLst/>
            <a:cxnLst/>
            <a:rect l="l" t="t" r="r" b="b"/>
            <a:pathLst>
              <a:path w="15207792" h="8079140">
                <a:moveTo>
                  <a:pt x="0" y="0"/>
                </a:moveTo>
                <a:lnTo>
                  <a:pt x="15207793" y="0"/>
                </a:lnTo>
                <a:lnTo>
                  <a:pt x="15207793" y="8079140"/>
                </a:lnTo>
                <a:lnTo>
                  <a:pt x="0" y="8079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01885" y="1467649"/>
            <a:ext cx="13084230" cy="7351702"/>
          </a:xfrm>
          <a:custGeom>
            <a:avLst/>
            <a:gdLst/>
            <a:ahLst/>
            <a:cxnLst/>
            <a:rect l="l" t="t" r="r" b="b"/>
            <a:pathLst>
              <a:path w="13084230" h="7351702">
                <a:moveTo>
                  <a:pt x="0" y="0"/>
                </a:moveTo>
                <a:lnTo>
                  <a:pt x="13084230" y="0"/>
                </a:lnTo>
                <a:lnTo>
                  <a:pt x="13084230" y="7351702"/>
                </a:lnTo>
                <a:lnTo>
                  <a:pt x="0" y="7351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52582" y="914400"/>
            <a:ext cx="6847047" cy="979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80"/>
              </a:lnSpc>
              <a:spcBef>
                <a:spcPct val="0"/>
              </a:spcBef>
            </a:pPr>
            <a:r>
              <a:rPr lang="en-US" sz="5700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Create Custom AMI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316117"/>
            <a:ext cx="14959132" cy="6055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9540" lvl="1" indent="-414770" algn="l">
              <a:lnSpc>
                <a:spcPts val="5379"/>
              </a:lnSpc>
              <a:spcBef>
                <a:spcPct val="0"/>
              </a:spcBef>
              <a:buAutoNum type="arabicPeriod"/>
            </a:pPr>
            <a:r>
              <a:rPr lang="en-US" sz="38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Select EC2-A  </a:t>
            </a:r>
          </a:p>
          <a:p>
            <a:pPr marL="829540" lvl="1" indent="-414770" algn="l">
              <a:lnSpc>
                <a:spcPts val="5379"/>
              </a:lnSpc>
              <a:spcBef>
                <a:spcPct val="0"/>
              </a:spcBef>
              <a:buAutoNum type="arabicPeriod"/>
            </a:pPr>
            <a:r>
              <a:rPr lang="en-US" sz="38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 to Actions → Image and templates  </a:t>
            </a:r>
          </a:p>
          <a:p>
            <a:pPr marL="829540" lvl="1" indent="-414770" algn="l">
              <a:lnSpc>
                <a:spcPts val="5379"/>
              </a:lnSpc>
              <a:spcBef>
                <a:spcPct val="0"/>
              </a:spcBef>
              <a:buAutoNum type="arabicPeriod"/>
            </a:pPr>
            <a:r>
              <a:rPr lang="en-US" sz="38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Select Create Image  </a:t>
            </a:r>
          </a:p>
          <a:p>
            <a:pPr marL="829540" lvl="1" indent="-414770" algn="l">
              <a:lnSpc>
                <a:spcPts val="5379"/>
              </a:lnSpc>
              <a:spcBef>
                <a:spcPct val="0"/>
              </a:spcBef>
              <a:buAutoNum type="arabicPeriod"/>
            </a:pPr>
            <a:r>
              <a:rPr lang="en-US" sz="38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Enter AMI name: ”devops-ami-v1”  </a:t>
            </a:r>
          </a:p>
          <a:p>
            <a:pPr marL="829540" lvl="1" indent="-414770" algn="l">
              <a:lnSpc>
                <a:spcPts val="5379"/>
              </a:lnSpc>
              <a:spcBef>
                <a:spcPct val="0"/>
              </a:spcBef>
              <a:buAutoNum type="arabicPeriod"/>
            </a:pPr>
            <a:r>
              <a:rPr lang="en-US" sz="38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 the AMI  </a:t>
            </a:r>
          </a:p>
          <a:p>
            <a:pPr marL="829540" lvl="1" indent="-414770" algn="l">
              <a:lnSpc>
                <a:spcPts val="5379"/>
              </a:lnSpc>
              <a:spcBef>
                <a:spcPct val="0"/>
              </a:spcBef>
              <a:buAutoNum type="arabicPeriod"/>
            </a:pPr>
            <a:r>
              <a:rPr lang="en-US" sz="38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Wait until the AMI status becomes Available  </a:t>
            </a:r>
          </a:p>
          <a:p>
            <a:pPr marL="829540" lvl="1" indent="-414770" algn="l">
              <a:lnSpc>
                <a:spcPts val="5379"/>
              </a:lnSpc>
              <a:spcBef>
                <a:spcPct val="0"/>
              </a:spcBef>
              <a:buAutoNum type="arabicPeriod"/>
            </a:pPr>
            <a:r>
              <a:rPr lang="en-US" sz="38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Record the AMI ID and Snapshot ID  </a:t>
            </a:r>
          </a:p>
          <a:p>
            <a:pPr algn="l">
              <a:lnSpc>
                <a:spcPts val="5379"/>
              </a:lnSpc>
              <a:spcBef>
                <a:spcPct val="0"/>
              </a:spcBef>
            </a:pPr>
            <a:endParaRPr lang="en-US" sz="3842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5379"/>
              </a:lnSpc>
              <a:spcBef>
                <a:spcPct val="0"/>
              </a:spcBef>
            </a:pPr>
            <a:r>
              <a:rPr lang="en-US" sz="38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Result: EC2-A has been converted into a reusable Golden Image.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01885" y="2056439"/>
            <a:ext cx="13084230" cy="6174121"/>
          </a:xfrm>
          <a:custGeom>
            <a:avLst/>
            <a:gdLst/>
            <a:ahLst/>
            <a:cxnLst/>
            <a:rect l="l" t="t" r="r" b="b"/>
            <a:pathLst>
              <a:path w="13084230" h="6174121">
                <a:moveTo>
                  <a:pt x="0" y="0"/>
                </a:moveTo>
                <a:lnTo>
                  <a:pt x="13084230" y="0"/>
                </a:lnTo>
                <a:lnTo>
                  <a:pt x="13084230" y="6174122"/>
                </a:lnTo>
                <a:lnTo>
                  <a:pt x="0" y="6174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01885" y="2027818"/>
            <a:ext cx="13084230" cy="6231365"/>
          </a:xfrm>
          <a:custGeom>
            <a:avLst/>
            <a:gdLst/>
            <a:ahLst/>
            <a:cxnLst/>
            <a:rect l="l" t="t" r="r" b="b"/>
            <a:pathLst>
              <a:path w="13084230" h="6231365">
                <a:moveTo>
                  <a:pt x="0" y="0"/>
                </a:moveTo>
                <a:lnTo>
                  <a:pt x="13084230" y="0"/>
                </a:lnTo>
                <a:lnTo>
                  <a:pt x="13084230" y="6231364"/>
                </a:lnTo>
                <a:lnTo>
                  <a:pt x="0" y="6231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71806" y="914400"/>
            <a:ext cx="10344388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LAUNCH NEW EC2 FROM AMI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313211"/>
            <a:ext cx="16230600" cy="6693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61"/>
              </a:lnSpc>
              <a:spcBef>
                <a:spcPct val="0"/>
              </a:spcBef>
            </a:pPr>
            <a:endParaRPr/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Navigate to EC2 → AMIs → Owned by me.</a:t>
            </a: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Choose  “devops-ami-v1”</a:t>
            </a: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Click on **Launch instance from AMI**.</a:t>
            </a: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Configure the following settings:</a:t>
            </a: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Instance Type</a:t>
            </a:r>
          </a:p>
          <a:p>
            <a:pPr marL="1295397" lvl="2" indent="-431799" algn="l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VPC/Subnet</a:t>
            </a:r>
          </a:p>
          <a:p>
            <a:pPr marL="1295397" lvl="2" indent="-431799" algn="l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Key Pair</a:t>
            </a:r>
          </a:p>
          <a:p>
            <a:pPr marL="1295397" lvl="2" indent="-431799" algn="l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Security Group</a:t>
            </a: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Name the instance: EC2-B-AMI-Server.</a:t>
            </a: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Launch the instance and wait for the status checks to confirm success.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# Result → The instance “EC2-B” has been successfully launched from the custom AMI.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01885" y="1929686"/>
            <a:ext cx="13084230" cy="6427628"/>
          </a:xfrm>
          <a:custGeom>
            <a:avLst/>
            <a:gdLst/>
            <a:ahLst/>
            <a:cxnLst/>
            <a:rect l="l" t="t" r="r" b="b"/>
            <a:pathLst>
              <a:path w="13084230" h="6427628">
                <a:moveTo>
                  <a:pt x="0" y="0"/>
                </a:moveTo>
                <a:lnTo>
                  <a:pt x="13084230" y="0"/>
                </a:lnTo>
                <a:lnTo>
                  <a:pt x="13084230" y="6427628"/>
                </a:lnTo>
                <a:lnTo>
                  <a:pt x="0" y="64276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31732" y="1954464"/>
            <a:ext cx="8624537" cy="6378073"/>
          </a:xfrm>
          <a:custGeom>
            <a:avLst/>
            <a:gdLst/>
            <a:ahLst/>
            <a:cxnLst/>
            <a:rect l="l" t="t" r="r" b="b"/>
            <a:pathLst>
              <a:path w="8624537" h="6378073">
                <a:moveTo>
                  <a:pt x="0" y="0"/>
                </a:moveTo>
                <a:lnTo>
                  <a:pt x="8624536" y="0"/>
                </a:lnTo>
                <a:lnTo>
                  <a:pt x="8624536" y="6378072"/>
                </a:lnTo>
                <a:lnTo>
                  <a:pt x="0" y="63780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9446" y="1182716"/>
            <a:ext cx="3496408" cy="951474"/>
            <a:chOff x="0" y="0"/>
            <a:chExt cx="920865" cy="2505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0865" cy="250594"/>
            </a:xfrm>
            <a:custGeom>
              <a:avLst/>
              <a:gdLst/>
              <a:ahLst/>
              <a:cxnLst/>
              <a:rect l="l" t="t" r="r" b="b"/>
              <a:pathLst>
                <a:path w="920865" h="250594">
                  <a:moveTo>
                    <a:pt x="0" y="0"/>
                  </a:moveTo>
                  <a:lnTo>
                    <a:pt x="920865" y="0"/>
                  </a:lnTo>
                  <a:lnTo>
                    <a:pt x="920865" y="250594"/>
                  </a:lnTo>
                  <a:lnTo>
                    <a:pt x="0" y="250594"/>
                  </a:lnTo>
                  <a:close/>
                </a:path>
              </a:pathLst>
            </a:custGeom>
            <a:solidFill>
              <a:srgbClr val="D9662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20865" cy="3077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89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Validation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009454" y="1182716"/>
            <a:ext cx="3193647" cy="951474"/>
            <a:chOff x="0" y="0"/>
            <a:chExt cx="841125" cy="25059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41125" cy="250594"/>
            </a:xfrm>
            <a:custGeom>
              <a:avLst/>
              <a:gdLst/>
              <a:ahLst/>
              <a:cxnLst/>
              <a:rect l="l" t="t" r="r" b="b"/>
              <a:pathLst>
                <a:path w="841125" h="250594">
                  <a:moveTo>
                    <a:pt x="0" y="0"/>
                  </a:moveTo>
                  <a:lnTo>
                    <a:pt x="841125" y="0"/>
                  </a:lnTo>
                  <a:lnTo>
                    <a:pt x="841125" y="250594"/>
                  </a:lnTo>
                  <a:lnTo>
                    <a:pt x="0" y="250594"/>
                  </a:lnTo>
                  <a:close/>
                </a:path>
              </a:pathLst>
            </a:custGeom>
            <a:solidFill>
              <a:srgbClr val="D9662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41125" cy="2886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338324" y="1182716"/>
            <a:ext cx="2887888" cy="951474"/>
            <a:chOff x="0" y="0"/>
            <a:chExt cx="760596" cy="2505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0596" cy="250594"/>
            </a:xfrm>
            <a:custGeom>
              <a:avLst/>
              <a:gdLst/>
              <a:ahLst/>
              <a:cxnLst/>
              <a:rect l="l" t="t" r="r" b="b"/>
              <a:pathLst>
                <a:path w="760596" h="250594">
                  <a:moveTo>
                    <a:pt x="0" y="0"/>
                  </a:moveTo>
                  <a:lnTo>
                    <a:pt x="760596" y="0"/>
                  </a:lnTo>
                  <a:lnTo>
                    <a:pt x="760596" y="250594"/>
                  </a:lnTo>
                  <a:lnTo>
                    <a:pt x="0" y="250594"/>
                  </a:lnTo>
                  <a:close/>
                </a:path>
              </a:pathLst>
            </a:custGeom>
            <a:solidFill>
              <a:srgbClr val="D96627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760596" cy="3077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89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EC2-B</a:t>
              </a:r>
            </a:p>
          </p:txBody>
        </p:sp>
      </p:grpSp>
      <p:graphicFrame>
        <p:nvGraphicFramePr>
          <p:cNvPr id="11" name="Object 11"/>
          <p:cNvGraphicFramePr/>
          <p:nvPr/>
        </p:nvGraphicFramePr>
        <p:xfrm>
          <a:off x="1379446" y="2184038"/>
          <a:ext cx="2828925" cy="660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152900" imgH="7924800" progId="Excel.Sheet.12">
                  <p:embed/>
                </p:oleObj>
              </mc:Choice>
              <mc:Fallback>
                <p:oleObj name="Worksheet" r:id="rId2" imgW="4152900" imgH="7924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79446" y="2184038"/>
                        <a:ext cx="2828925" cy="6600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/>
          <p:nvPr/>
        </p:nvGraphicFramePr>
        <p:xfrm>
          <a:off x="7009454" y="2184038"/>
          <a:ext cx="2828925" cy="660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152900" imgH="7924800" progId="Excel.Sheet.12">
                  <p:embed/>
                </p:oleObj>
              </mc:Choice>
              <mc:Fallback>
                <p:oleObj name="Worksheet" r:id="rId4" imgW="4152900" imgH="7924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009454" y="2184038"/>
                        <a:ext cx="2828925" cy="6600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/>
          <p:nvPr/>
        </p:nvGraphicFramePr>
        <p:xfrm>
          <a:off x="12296353" y="2184038"/>
          <a:ext cx="2828925" cy="660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4152900" imgH="7924800" progId="Excel.Sheet.12">
                  <p:embed/>
                </p:oleObj>
              </mc:Choice>
              <mc:Fallback>
                <p:oleObj name="Worksheet" r:id="rId6" imgW="4152900" imgH="7924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296353" y="2184038"/>
                        <a:ext cx="2828925" cy="6600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4"/>
          <p:cNvSpPr txBox="1"/>
          <p:nvPr/>
        </p:nvSpPr>
        <p:spPr>
          <a:xfrm>
            <a:off x="4500794" y="437134"/>
            <a:ext cx="7795558" cy="591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1"/>
              </a:lnSpc>
            </a:pPr>
            <a:r>
              <a:rPr lang="en-US" sz="5227" b="1">
                <a:solidFill>
                  <a:srgbClr val="D96627"/>
                </a:solidFill>
                <a:latin typeface="Flatory Sans Bold"/>
                <a:ea typeface="Flatory Sans Bold"/>
                <a:cs typeface="Flatory Sans Bold"/>
                <a:sym typeface="Flatory Sans Bold"/>
              </a:rPr>
              <a:t> VALIDATION &amp; RESULTS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09454" y="1326665"/>
            <a:ext cx="3193647" cy="625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63"/>
              </a:lnSpc>
              <a:spcBef>
                <a:spcPct val="0"/>
              </a:spcBef>
            </a:pPr>
            <a:r>
              <a:rPr lang="en-US" sz="368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EC2-A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8434592"/>
            <a:ext cx="16529403" cy="1516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86"/>
              </a:lnSpc>
              <a:spcBef>
                <a:spcPct val="0"/>
              </a:spcBef>
            </a:pPr>
            <a:endParaRPr/>
          </a:p>
          <a:p>
            <a:pPr algn="just">
              <a:lnSpc>
                <a:spcPts val="4086"/>
              </a:lnSpc>
              <a:spcBef>
                <a:spcPct val="0"/>
              </a:spcBef>
            </a:pPr>
            <a:r>
              <a:rPr lang="en-US" sz="291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Result:- EC2-B is a new instance, but it inherits the expected machine baseline from EC2-A      through the custom AMI.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01885" y="1467649"/>
            <a:ext cx="13084230" cy="7351702"/>
          </a:xfrm>
          <a:custGeom>
            <a:avLst/>
            <a:gdLst/>
            <a:ahLst/>
            <a:cxnLst/>
            <a:rect l="l" t="t" r="r" b="b"/>
            <a:pathLst>
              <a:path w="13084230" h="7351702">
                <a:moveTo>
                  <a:pt x="0" y="0"/>
                </a:moveTo>
                <a:lnTo>
                  <a:pt x="13084230" y="0"/>
                </a:lnTo>
                <a:lnTo>
                  <a:pt x="13084230" y="7351702"/>
                </a:lnTo>
                <a:lnTo>
                  <a:pt x="0" y="7351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01885" y="1467649"/>
            <a:ext cx="13084230" cy="7351702"/>
          </a:xfrm>
          <a:custGeom>
            <a:avLst/>
            <a:gdLst/>
            <a:ahLst/>
            <a:cxnLst/>
            <a:rect l="l" t="t" r="r" b="b"/>
            <a:pathLst>
              <a:path w="13084230" h="7351702">
                <a:moveTo>
                  <a:pt x="0" y="0"/>
                </a:moveTo>
                <a:lnTo>
                  <a:pt x="13084230" y="0"/>
                </a:lnTo>
                <a:lnTo>
                  <a:pt x="13084230" y="7351702"/>
                </a:lnTo>
                <a:lnTo>
                  <a:pt x="0" y="7351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67719" y="857250"/>
            <a:ext cx="6352561" cy="1548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60"/>
              </a:lnSpc>
              <a:spcBef>
                <a:spcPct val="0"/>
              </a:spcBef>
            </a:pPr>
            <a:r>
              <a:rPr lang="en-US" sz="9114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814588"/>
            <a:ext cx="16230600" cy="458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4"/>
              </a:lnSpc>
            </a:pPr>
            <a:r>
              <a:rPr lang="en-US" sz="37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project successfully demonstrates a repeatable DevOps deployment workflow using AWS EC2 and custom AMIs. A source EC2 server was configured with Ubuntu, Nginx, and a web application. The server was captured as a custom AMI and used to launch a second EC2 instance. The new instance successfully reproduced the required server environment and application, demonstrating consistency, reusability, and faster cloud deployment.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49136" y="4060838"/>
            <a:ext cx="6127909" cy="164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60"/>
              </a:lnSpc>
              <a:spcBef>
                <a:spcPct val="0"/>
              </a:spcBef>
            </a:pPr>
            <a:r>
              <a:rPr lang="en-US" sz="9614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461</Words>
  <Application>Microsoft Office PowerPoint</Application>
  <PresentationFormat>Custom</PresentationFormat>
  <Paragraphs>78</Paragraphs>
  <Slides>22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Flatory Sans Bold</vt:lpstr>
      <vt:lpstr>Barlow Bold</vt:lpstr>
      <vt:lpstr>Arial</vt:lpstr>
      <vt:lpstr>Canva Sans</vt:lpstr>
      <vt:lpstr>Calibri</vt:lpstr>
      <vt:lpstr>Flatory Sans</vt:lpstr>
      <vt:lpstr>Barlow</vt:lpstr>
      <vt:lpstr>Canva Sans Bold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an Ami of an Existing EC2 Instance and Launch a new Instance fron it</dc:title>
  <dc:creator>devanshi chauhan</dc:creator>
  <cp:lastModifiedBy>devanshi chauhan</cp:lastModifiedBy>
  <cp:revision>1</cp:revision>
  <dcterms:created xsi:type="dcterms:W3CDTF">2006-08-16T00:00:00Z</dcterms:created>
  <dcterms:modified xsi:type="dcterms:W3CDTF">2026-08-30T19:42:46Z</dcterms:modified>
  <dc:identifier>DAHTIKaVp48</dc:identifier>
</cp:coreProperties>
</file>